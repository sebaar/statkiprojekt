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hivo Black" charset="1" panose="020B0A03020202020B04"/>
      <p:regular r:id="rId13"/>
    </p:embeddedFont>
    <p:embeddedFont>
      <p:font typeface="Lato" charset="1" panose="020F0502020204030203"/>
      <p:regular r:id="rId14"/>
    </p:embeddedFont>
    <p:embeddedFont>
      <p:font typeface="Source Sans Pro" charset="1" panose="020B0503030403020204"/>
      <p:regular r:id="rId15"/>
    </p:embeddedFont>
    <p:embeddedFont>
      <p:font typeface="Gill Sans Display Ultra-Bold" charset="1" panose="020B090402010402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6.jpeg" Type="http://schemas.openxmlformats.org/officeDocument/2006/relationships/image"/><Relationship Id="rId9" Target="../media/image2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6812" y="6204154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47403" y="0"/>
            <a:ext cx="3849599" cy="1917800"/>
          </a:xfrm>
          <a:custGeom>
            <a:avLst/>
            <a:gdLst/>
            <a:ahLst/>
            <a:cxnLst/>
            <a:rect r="r" b="b" t="t" l="l"/>
            <a:pathLst>
              <a:path h="1917800" w="3849599">
                <a:moveTo>
                  <a:pt x="0" y="0"/>
                </a:moveTo>
                <a:lnTo>
                  <a:pt x="3849598" y="0"/>
                </a:lnTo>
                <a:lnTo>
                  <a:pt x="3849598" y="1917800"/>
                </a:lnTo>
                <a:lnTo>
                  <a:pt x="0" y="1917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23363" y="-1028700"/>
            <a:ext cx="4546999" cy="4114800"/>
          </a:xfrm>
          <a:custGeom>
            <a:avLst/>
            <a:gdLst/>
            <a:ahLst/>
            <a:cxnLst/>
            <a:rect r="r" b="b" t="t" l="l"/>
            <a:pathLst>
              <a:path h="4114800" w="4546999">
                <a:moveTo>
                  <a:pt x="4546999" y="0"/>
                </a:moveTo>
                <a:lnTo>
                  <a:pt x="0" y="0"/>
                </a:lnTo>
                <a:lnTo>
                  <a:pt x="0" y="4114800"/>
                </a:lnTo>
                <a:lnTo>
                  <a:pt x="4546999" y="4114800"/>
                </a:lnTo>
                <a:lnTo>
                  <a:pt x="454699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8391" y="6172200"/>
            <a:ext cx="2192066" cy="4114800"/>
          </a:xfrm>
          <a:custGeom>
            <a:avLst/>
            <a:gdLst/>
            <a:ahLst/>
            <a:cxnLst/>
            <a:rect r="r" b="b" t="t" l="l"/>
            <a:pathLst>
              <a:path h="4114800" w="2192066">
                <a:moveTo>
                  <a:pt x="0" y="0"/>
                </a:moveTo>
                <a:lnTo>
                  <a:pt x="2192067" y="0"/>
                </a:lnTo>
                <a:lnTo>
                  <a:pt x="21920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41310" y="3155067"/>
            <a:ext cx="9805379" cy="327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7"/>
              </a:lnSpc>
            </a:pPr>
            <a:r>
              <a:rPr lang="en-US" sz="14592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SHIPS</a:t>
            </a:r>
          </a:p>
          <a:p>
            <a:pPr algn="l">
              <a:lnSpc>
                <a:spcPts val="12257"/>
              </a:lnSpc>
            </a:pPr>
            <a:r>
              <a:rPr lang="en-US" sz="14592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GAME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01882" y="6351398"/>
            <a:ext cx="9138121" cy="657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1"/>
              </a:lnSpc>
            </a:pPr>
            <a:r>
              <a:rPr lang="en-US" sz="3815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</a:rPr>
              <a:t>Sebastian Arczewski &amp; Hubert Zubrzycki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25026" y="6220103"/>
            <a:ext cx="4499284" cy="4114800"/>
          </a:xfrm>
          <a:custGeom>
            <a:avLst/>
            <a:gdLst/>
            <a:ahLst/>
            <a:cxnLst/>
            <a:rect r="r" b="b" t="t" l="l"/>
            <a:pathLst>
              <a:path h="4114800" w="4499284">
                <a:moveTo>
                  <a:pt x="0" y="0"/>
                </a:moveTo>
                <a:lnTo>
                  <a:pt x="4499285" y="0"/>
                </a:lnTo>
                <a:lnTo>
                  <a:pt x="44992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6537" y="-3987"/>
            <a:ext cx="5030289" cy="1957240"/>
          </a:xfrm>
          <a:custGeom>
            <a:avLst/>
            <a:gdLst/>
            <a:ahLst/>
            <a:cxnLst/>
            <a:rect r="r" b="b" t="t" l="l"/>
            <a:pathLst>
              <a:path h="1957240" w="5030289">
                <a:moveTo>
                  <a:pt x="0" y="0"/>
                </a:moveTo>
                <a:lnTo>
                  <a:pt x="5030288" y="0"/>
                </a:lnTo>
                <a:lnTo>
                  <a:pt x="5030288" y="1957239"/>
                </a:lnTo>
                <a:lnTo>
                  <a:pt x="0" y="19572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674" y="5430600"/>
            <a:ext cx="1882812" cy="4114800"/>
          </a:xfrm>
          <a:custGeom>
            <a:avLst/>
            <a:gdLst/>
            <a:ahLst/>
            <a:cxnLst/>
            <a:rect r="r" b="b" t="t" l="l"/>
            <a:pathLst>
              <a:path h="4114800" w="1882812">
                <a:moveTo>
                  <a:pt x="0" y="0"/>
                </a:moveTo>
                <a:lnTo>
                  <a:pt x="1882812" y="0"/>
                </a:lnTo>
                <a:lnTo>
                  <a:pt x="18828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85727" y="2942884"/>
            <a:ext cx="11763117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Celem projektu jest stworzenie gry „Statki”, która pozwala dwóm graczom rozegrać klasyczną bitwę morską. Projekt ma na celu odwzorowanie zasad oryginalnej gry planszowej 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 formie cyfrowej — od etapu rozmieszczania statków po wymianę strzałów i końcowe zwycięstwo jednego z graczy.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Gra ma zapewnić użytkownikowi element rywalizacji, strategii i losowości, a także przyjemne doświadczenie rozgrywki, w której kluczową rolę odgrywa planowanie i przewidywanie ruchów przeciwnika.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85727" y="1061045"/>
            <a:ext cx="11763117" cy="147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true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OPIS GRY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9700" y="-31898"/>
            <a:ext cx="4117750" cy="4114800"/>
          </a:xfrm>
          <a:custGeom>
            <a:avLst/>
            <a:gdLst/>
            <a:ahLst/>
            <a:cxnLst/>
            <a:rect r="r" b="b" t="t" l="l"/>
            <a:pathLst>
              <a:path h="4114800" w="4117750">
                <a:moveTo>
                  <a:pt x="0" y="0"/>
                </a:moveTo>
                <a:lnTo>
                  <a:pt x="4117749" y="0"/>
                </a:lnTo>
                <a:lnTo>
                  <a:pt x="41177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90" y="8835736"/>
            <a:ext cx="7315200" cy="1436439"/>
          </a:xfrm>
          <a:custGeom>
            <a:avLst/>
            <a:gdLst/>
            <a:ahLst/>
            <a:cxnLst/>
            <a:rect r="r" b="b" t="t" l="l"/>
            <a:pathLst>
              <a:path h="1436439" w="7315200">
                <a:moveTo>
                  <a:pt x="0" y="0"/>
                </a:moveTo>
                <a:lnTo>
                  <a:pt x="7315200" y="0"/>
                </a:lnTo>
                <a:lnTo>
                  <a:pt x="7315200" y="1436439"/>
                </a:lnTo>
                <a:lnTo>
                  <a:pt x="0" y="143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296510" y="8835736"/>
            <a:ext cx="7315200" cy="1436439"/>
          </a:xfrm>
          <a:custGeom>
            <a:avLst/>
            <a:gdLst/>
            <a:ahLst/>
            <a:cxnLst/>
            <a:rect r="r" b="b" t="t" l="l"/>
            <a:pathLst>
              <a:path h="1436439" w="7315200">
                <a:moveTo>
                  <a:pt x="0" y="0"/>
                </a:moveTo>
                <a:lnTo>
                  <a:pt x="7315200" y="0"/>
                </a:lnTo>
                <a:lnTo>
                  <a:pt x="7315200" y="1436439"/>
                </a:lnTo>
                <a:lnTo>
                  <a:pt x="0" y="143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31088" y="8835736"/>
            <a:ext cx="7315200" cy="1436439"/>
          </a:xfrm>
          <a:custGeom>
            <a:avLst/>
            <a:gdLst/>
            <a:ahLst/>
            <a:cxnLst/>
            <a:rect r="r" b="b" t="t" l="l"/>
            <a:pathLst>
              <a:path h="1436439" w="7315200">
                <a:moveTo>
                  <a:pt x="0" y="0"/>
                </a:moveTo>
                <a:lnTo>
                  <a:pt x="7315200" y="0"/>
                </a:lnTo>
                <a:lnTo>
                  <a:pt x="7315200" y="1436439"/>
                </a:lnTo>
                <a:lnTo>
                  <a:pt x="0" y="143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33128" y="6777699"/>
            <a:ext cx="2038906" cy="2058038"/>
          </a:xfrm>
          <a:custGeom>
            <a:avLst/>
            <a:gdLst/>
            <a:ahLst/>
            <a:cxnLst/>
            <a:rect r="r" b="b" t="t" l="l"/>
            <a:pathLst>
              <a:path h="2058038" w="2038906">
                <a:moveTo>
                  <a:pt x="0" y="0"/>
                </a:moveTo>
                <a:lnTo>
                  <a:pt x="2038906" y="0"/>
                </a:lnTo>
                <a:lnTo>
                  <a:pt x="2038906" y="2058037"/>
                </a:lnTo>
                <a:lnTo>
                  <a:pt x="0" y="2058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7761" y="1558958"/>
            <a:ext cx="14015367" cy="754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Gra toczy się na dwóch planszach o wymiarach 10×10: jednej należącej do gracza, drugiej do przeciwnika.</a:t>
            </a:r>
          </a:p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Każdy z graczy rozmieszcza swoją flotę statków na własnej planszy przed rozpoczęciem rozgrywki.</a:t>
            </a:r>
          </a:p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Dostępne statki mają różne długości (np. od 1 do 4 pól)</a:t>
            </a:r>
          </a:p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 rozmieszczeniu statków gracze na przemian oddają strzały w pola planszy przeciwnika, próbując odgadnąć pozycję jego statków.</a:t>
            </a:r>
          </a:p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Strzał może zakończyć się wynikiem:</a:t>
            </a:r>
          </a:p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„Trafiony” – jeśli gracz trafił w część statku,</a:t>
            </a:r>
          </a:p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„Pudło” – jeśli trafił w puste pole,</a:t>
            </a:r>
          </a:p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„Zatopiony” – jeśli wszystkie pola danego statku zostały trafione.</a:t>
            </a:r>
          </a:p>
          <a:p>
            <a:pPr algn="l" marL="664641" indent="-332321" lvl="1">
              <a:lnSpc>
                <a:spcPts val="4309"/>
              </a:lnSpc>
              <a:buFont typeface="Arial"/>
              <a:buChar char="•"/>
            </a:pPr>
            <a:r>
              <a:rPr lang="en-US" sz="3078">
                <a:solidFill>
                  <a:srgbClr val="004AAD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Rozgrywka kończy się w momencie, gdy jeden z graczy zatopi wszystkie statki przeciwnika.</a:t>
            </a:r>
          </a:p>
          <a:p>
            <a:pPr algn="l">
              <a:lnSpc>
                <a:spcPts val="430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417761" y="136492"/>
            <a:ext cx="11763117" cy="147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46"/>
              </a:lnSpc>
            </a:pPr>
            <a:r>
              <a:rPr lang="en-US" sz="7747" b="true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OPIS ROZGRYWKI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0756" y="6917099"/>
            <a:ext cx="4284303" cy="3497549"/>
          </a:xfrm>
          <a:custGeom>
            <a:avLst/>
            <a:gdLst/>
            <a:ahLst/>
            <a:cxnLst/>
            <a:rect r="r" b="b" t="t" l="l"/>
            <a:pathLst>
              <a:path h="3497549" w="4284303">
                <a:moveTo>
                  <a:pt x="0" y="0"/>
                </a:moveTo>
                <a:lnTo>
                  <a:pt x="4284304" y="0"/>
                </a:lnTo>
                <a:lnTo>
                  <a:pt x="4284304" y="3497549"/>
                </a:lnTo>
                <a:lnTo>
                  <a:pt x="0" y="3497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3172268" cy="1485850"/>
          </a:xfrm>
          <a:custGeom>
            <a:avLst/>
            <a:gdLst/>
            <a:ahLst/>
            <a:cxnLst/>
            <a:rect r="r" b="b" t="t" l="l"/>
            <a:pathLst>
              <a:path h="1485850" w="3172268">
                <a:moveTo>
                  <a:pt x="0" y="0"/>
                </a:moveTo>
                <a:lnTo>
                  <a:pt x="3172268" y="0"/>
                </a:lnTo>
                <a:lnTo>
                  <a:pt x="3172268" y="1485850"/>
                </a:lnTo>
                <a:lnTo>
                  <a:pt x="0" y="1485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2442" y="6467250"/>
            <a:ext cx="1844472" cy="3500827"/>
          </a:xfrm>
          <a:custGeom>
            <a:avLst/>
            <a:gdLst/>
            <a:ahLst/>
            <a:cxnLst/>
            <a:rect r="r" b="b" t="t" l="l"/>
            <a:pathLst>
              <a:path h="3500827" w="1844472">
                <a:moveTo>
                  <a:pt x="0" y="0"/>
                </a:moveTo>
                <a:lnTo>
                  <a:pt x="1844473" y="0"/>
                </a:lnTo>
                <a:lnTo>
                  <a:pt x="1844473" y="3500826"/>
                </a:lnTo>
                <a:lnTo>
                  <a:pt x="0" y="3500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78482" y="2365117"/>
            <a:ext cx="14186219" cy="6480347"/>
            <a:chOff x="0" y="0"/>
            <a:chExt cx="3736288" cy="1706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6288" cy="1706758"/>
            </a:xfrm>
            <a:custGeom>
              <a:avLst/>
              <a:gdLst/>
              <a:ahLst/>
              <a:cxnLst/>
              <a:rect r="r" b="b" t="t" l="l"/>
              <a:pathLst>
                <a:path h="1706758" w="3736288">
                  <a:moveTo>
                    <a:pt x="27832" y="0"/>
                  </a:moveTo>
                  <a:lnTo>
                    <a:pt x="3708456" y="0"/>
                  </a:lnTo>
                  <a:cubicBezTo>
                    <a:pt x="3715838" y="0"/>
                    <a:pt x="3722917" y="2932"/>
                    <a:pt x="3728136" y="8152"/>
                  </a:cubicBezTo>
                  <a:cubicBezTo>
                    <a:pt x="3733356" y="13372"/>
                    <a:pt x="3736288" y="20451"/>
                    <a:pt x="3736288" y="27832"/>
                  </a:cubicBezTo>
                  <a:lnTo>
                    <a:pt x="3736288" y="1678926"/>
                  </a:lnTo>
                  <a:cubicBezTo>
                    <a:pt x="3736288" y="1686307"/>
                    <a:pt x="3733356" y="1693387"/>
                    <a:pt x="3728136" y="1698606"/>
                  </a:cubicBezTo>
                  <a:cubicBezTo>
                    <a:pt x="3722917" y="1703826"/>
                    <a:pt x="3715838" y="1706758"/>
                    <a:pt x="3708456" y="1706758"/>
                  </a:cubicBezTo>
                  <a:lnTo>
                    <a:pt x="27832" y="1706758"/>
                  </a:lnTo>
                  <a:cubicBezTo>
                    <a:pt x="20451" y="1706758"/>
                    <a:pt x="13372" y="1703826"/>
                    <a:pt x="8152" y="1698606"/>
                  </a:cubicBezTo>
                  <a:cubicBezTo>
                    <a:pt x="2932" y="1693387"/>
                    <a:pt x="0" y="1686307"/>
                    <a:pt x="0" y="1678926"/>
                  </a:cubicBezTo>
                  <a:lnTo>
                    <a:pt x="0" y="27832"/>
                  </a:lnTo>
                  <a:cubicBezTo>
                    <a:pt x="0" y="20451"/>
                    <a:pt x="2932" y="13372"/>
                    <a:pt x="8152" y="8152"/>
                  </a:cubicBezTo>
                  <a:cubicBezTo>
                    <a:pt x="13372" y="2932"/>
                    <a:pt x="20451" y="0"/>
                    <a:pt x="27832" y="0"/>
                  </a:cubicBezTo>
                  <a:close/>
                </a:path>
              </a:pathLst>
            </a:custGeom>
            <a:solidFill>
              <a:srgbClr val="B1E3FA"/>
            </a:solidFill>
            <a:ln w="66675" cap="rnd">
              <a:solidFill>
                <a:srgbClr val="4EC9F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36288" cy="174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31254" y="3206220"/>
            <a:ext cx="8530028" cy="4798141"/>
          </a:xfrm>
          <a:custGeom>
            <a:avLst/>
            <a:gdLst/>
            <a:ahLst/>
            <a:cxnLst/>
            <a:rect r="r" b="b" t="t" l="l"/>
            <a:pathLst>
              <a:path h="4798141" w="8530028">
                <a:moveTo>
                  <a:pt x="0" y="0"/>
                </a:moveTo>
                <a:lnTo>
                  <a:pt x="8530028" y="0"/>
                </a:lnTo>
                <a:lnTo>
                  <a:pt x="8530028" y="4798141"/>
                </a:lnTo>
                <a:lnTo>
                  <a:pt x="0" y="47981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90033" y="723900"/>
            <a:ext cx="11763117" cy="147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true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PLANSZA DO GRY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95621" y="3134702"/>
            <a:ext cx="4559810" cy="494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14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Plansza do gry w statki składa się z dwóch części: po lewej znajduje się plansza gracza, na której ustawione są jego statki, a po prawej – plansza służąca do zaznaczania oddanych strzałów w stronę przeciwnika. Statki występują w czterech typach: czteromasztowiec (1 sztuka), trzymasztowiec (2 sztuki), dwumasztowiec (3 sztuki) i jednomasztowiec (4 sztuki). Każdy typ różni się długością i zajmowaną przestrzenią na planszy.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0756" y="6917099"/>
            <a:ext cx="4284303" cy="3497549"/>
          </a:xfrm>
          <a:custGeom>
            <a:avLst/>
            <a:gdLst/>
            <a:ahLst/>
            <a:cxnLst/>
            <a:rect r="r" b="b" t="t" l="l"/>
            <a:pathLst>
              <a:path h="3497549" w="4284303">
                <a:moveTo>
                  <a:pt x="0" y="0"/>
                </a:moveTo>
                <a:lnTo>
                  <a:pt x="4284304" y="0"/>
                </a:lnTo>
                <a:lnTo>
                  <a:pt x="4284304" y="3497549"/>
                </a:lnTo>
                <a:lnTo>
                  <a:pt x="0" y="3497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3172268" cy="1485850"/>
          </a:xfrm>
          <a:custGeom>
            <a:avLst/>
            <a:gdLst/>
            <a:ahLst/>
            <a:cxnLst/>
            <a:rect r="r" b="b" t="t" l="l"/>
            <a:pathLst>
              <a:path h="1485850" w="3172268">
                <a:moveTo>
                  <a:pt x="0" y="0"/>
                </a:moveTo>
                <a:lnTo>
                  <a:pt x="3172268" y="0"/>
                </a:lnTo>
                <a:lnTo>
                  <a:pt x="3172268" y="1485850"/>
                </a:lnTo>
                <a:lnTo>
                  <a:pt x="0" y="1485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2442" y="6467250"/>
            <a:ext cx="1844472" cy="3500827"/>
          </a:xfrm>
          <a:custGeom>
            <a:avLst/>
            <a:gdLst/>
            <a:ahLst/>
            <a:cxnLst/>
            <a:rect r="r" b="b" t="t" l="l"/>
            <a:pathLst>
              <a:path h="3500827" w="1844472">
                <a:moveTo>
                  <a:pt x="0" y="0"/>
                </a:moveTo>
                <a:lnTo>
                  <a:pt x="1844473" y="0"/>
                </a:lnTo>
                <a:lnTo>
                  <a:pt x="1844473" y="3500826"/>
                </a:lnTo>
                <a:lnTo>
                  <a:pt x="0" y="35008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78482" y="2365117"/>
            <a:ext cx="14186219" cy="6480347"/>
            <a:chOff x="0" y="0"/>
            <a:chExt cx="3736288" cy="1706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6288" cy="1706758"/>
            </a:xfrm>
            <a:custGeom>
              <a:avLst/>
              <a:gdLst/>
              <a:ahLst/>
              <a:cxnLst/>
              <a:rect r="r" b="b" t="t" l="l"/>
              <a:pathLst>
                <a:path h="1706758" w="3736288">
                  <a:moveTo>
                    <a:pt x="27832" y="0"/>
                  </a:moveTo>
                  <a:lnTo>
                    <a:pt x="3708456" y="0"/>
                  </a:lnTo>
                  <a:cubicBezTo>
                    <a:pt x="3715838" y="0"/>
                    <a:pt x="3722917" y="2932"/>
                    <a:pt x="3728136" y="8152"/>
                  </a:cubicBezTo>
                  <a:cubicBezTo>
                    <a:pt x="3733356" y="13372"/>
                    <a:pt x="3736288" y="20451"/>
                    <a:pt x="3736288" y="27832"/>
                  </a:cubicBezTo>
                  <a:lnTo>
                    <a:pt x="3736288" y="1678926"/>
                  </a:lnTo>
                  <a:cubicBezTo>
                    <a:pt x="3736288" y="1686307"/>
                    <a:pt x="3733356" y="1693387"/>
                    <a:pt x="3728136" y="1698606"/>
                  </a:cubicBezTo>
                  <a:cubicBezTo>
                    <a:pt x="3722917" y="1703826"/>
                    <a:pt x="3715838" y="1706758"/>
                    <a:pt x="3708456" y="1706758"/>
                  </a:cubicBezTo>
                  <a:lnTo>
                    <a:pt x="27832" y="1706758"/>
                  </a:lnTo>
                  <a:cubicBezTo>
                    <a:pt x="20451" y="1706758"/>
                    <a:pt x="13372" y="1703826"/>
                    <a:pt x="8152" y="1698606"/>
                  </a:cubicBezTo>
                  <a:cubicBezTo>
                    <a:pt x="2932" y="1693387"/>
                    <a:pt x="0" y="1686307"/>
                    <a:pt x="0" y="1678926"/>
                  </a:cubicBezTo>
                  <a:lnTo>
                    <a:pt x="0" y="27832"/>
                  </a:lnTo>
                  <a:cubicBezTo>
                    <a:pt x="0" y="20451"/>
                    <a:pt x="2932" y="13372"/>
                    <a:pt x="8152" y="8152"/>
                  </a:cubicBezTo>
                  <a:cubicBezTo>
                    <a:pt x="13372" y="2932"/>
                    <a:pt x="20451" y="0"/>
                    <a:pt x="27832" y="0"/>
                  </a:cubicBezTo>
                  <a:close/>
                </a:path>
              </a:pathLst>
            </a:custGeom>
            <a:solidFill>
              <a:srgbClr val="B1E3FA"/>
            </a:solidFill>
            <a:ln w="66675" cap="rnd">
              <a:solidFill>
                <a:srgbClr val="4EC9F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36288" cy="174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51649" y="3821265"/>
            <a:ext cx="2689419" cy="3568052"/>
          </a:xfrm>
          <a:custGeom>
            <a:avLst/>
            <a:gdLst/>
            <a:ahLst/>
            <a:cxnLst/>
            <a:rect r="r" b="b" t="t" l="l"/>
            <a:pathLst>
              <a:path h="3568052" w="2689419">
                <a:moveTo>
                  <a:pt x="0" y="0"/>
                </a:moveTo>
                <a:lnTo>
                  <a:pt x="2689419" y="0"/>
                </a:lnTo>
                <a:lnTo>
                  <a:pt x="2689419" y="3568051"/>
                </a:lnTo>
                <a:lnTo>
                  <a:pt x="0" y="35680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89483" y="3821265"/>
            <a:ext cx="2007029" cy="3568052"/>
          </a:xfrm>
          <a:custGeom>
            <a:avLst/>
            <a:gdLst/>
            <a:ahLst/>
            <a:cxnLst/>
            <a:rect r="r" b="b" t="t" l="l"/>
            <a:pathLst>
              <a:path h="3568052" w="2007029">
                <a:moveTo>
                  <a:pt x="0" y="0"/>
                </a:moveTo>
                <a:lnTo>
                  <a:pt x="2007029" y="0"/>
                </a:lnTo>
                <a:lnTo>
                  <a:pt x="2007029" y="3568051"/>
                </a:lnTo>
                <a:lnTo>
                  <a:pt x="0" y="35680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44926" y="3821265"/>
            <a:ext cx="2007029" cy="3568052"/>
          </a:xfrm>
          <a:custGeom>
            <a:avLst/>
            <a:gdLst/>
            <a:ahLst/>
            <a:cxnLst/>
            <a:rect r="r" b="b" t="t" l="l"/>
            <a:pathLst>
              <a:path h="3568052" w="2007029">
                <a:moveTo>
                  <a:pt x="0" y="0"/>
                </a:moveTo>
                <a:lnTo>
                  <a:pt x="2007029" y="0"/>
                </a:lnTo>
                <a:lnTo>
                  <a:pt x="2007029" y="3568051"/>
                </a:lnTo>
                <a:lnTo>
                  <a:pt x="0" y="35680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90033" y="723900"/>
            <a:ext cx="11763117" cy="147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true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INTERFEJS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99655" y="3324112"/>
            <a:ext cx="4559810" cy="494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14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</a:t>
            </a:r>
            <a:r>
              <a:rPr lang="en-US" sz="214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 uruchomieniu gry pojawia się menu startowe. Po naciśnięciu przycisku Bitwa następuje przejście do planszy gry, gdzie gracz ustawia statki i oddaje strzały. Wybór Instrukcja przenosi do ekranu z zasadami gry, a Opcje otwiera ustawienia (dźwięk, grafika itp.). Naciśnięcie Wyjście zamyka grę. Po zakończeniu rozgrywki pojawia się menu końcowe, gdzie przycisk Zagraj ponownie rozpoczyna nową grę, Menu główne wraca do menu startowego, a Wyjście kończy grę.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15111" y="7447705"/>
            <a:ext cx="562496" cy="374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TŁO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41424" y="7420445"/>
            <a:ext cx="1703145" cy="75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MENU STARTOWE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96868" y="7462559"/>
            <a:ext cx="1703145" cy="75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MENU KOŃCOWE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0635" y="6480179"/>
            <a:ext cx="14250015" cy="1807296"/>
            <a:chOff x="0" y="0"/>
            <a:chExt cx="3753090" cy="475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53090" cy="475996"/>
            </a:xfrm>
            <a:custGeom>
              <a:avLst/>
              <a:gdLst/>
              <a:ahLst/>
              <a:cxnLst/>
              <a:rect r="r" b="b" t="t" l="l"/>
              <a:pathLst>
                <a:path h="475996" w="3753090">
                  <a:moveTo>
                    <a:pt x="27708" y="0"/>
                  </a:moveTo>
                  <a:lnTo>
                    <a:pt x="3725382" y="0"/>
                  </a:lnTo>
                  <a:cubicBezTo>
                    <a:pt x="3732731" y="0"/>
                    <a:pt x="3739779" y="2919"/>
                    <a:pt x="3744975" y="8115"/>
                  </a:cubicBezTo>
                  <a:cubicBezTo>
                    <a:pt x="3750171" y="13312"/>
                    <a:pt x="3753090" y="20359"/>
                    <a:pt x="3753090" y="27708"/>
                  </a:cubicBezTo>
                  <a:lnTo>
                    <a:pt x="3753090" y="448288"/>
                  </a:lnTo>
                  <a:cubicBezTo>
                    <a:pt x="3753090" y="455636"/>
                    <a:pt x="3750171" y="462684"/>
                    <a:pt x="3744975" y="467880"/>
                  </a:cubicBezTo>
                  <a:cubicBezTo>
                    <a:pt x="3739779" y="473076"/>
                    <a:pt x="3732731" y="475996"/>
                    <a:pt x="3725382" y="475996"/>
                  </a:cubicBezTo>
                  <a:lnTo>
                    <a:pt x="27708" y="475996"/>
                  </a:lnTo>
                  <a:cubicBezTo>
                    <a:pt x="20359" y="475996"/>
                    <a:pt x="13312" y="473076"/>
                    <a:pt x="8115" y="467880"/>
                  </a:cubicBezTo>
                  <a:cubicBezTo>
                    <a:pt x="2919" y="462684"/>
                    <a:pt x="0" y="455636"/>
                    <a:pt x="0" y="448288"/>
                  </a:cubicBezTo>
                  <a:lnTo>
                    <a:pt x="0" y="27708"/>
                  </a:lnTo>
                  <a:cubicBezTo>
                    <a:pt x="0" y="20359"/>
                    <a:pt x="2919" y="13312"/>
                    <a:pt x="8115" y="8115"/>
                  </a:cubicBezTo>
                  <a:cubicBezTo>
                    <a:pt x="13312" y="2919"/>
                    <a:pt x="20359" y="0"/>
                    <a:pt x="27708" y="0"/>
                  </a:cubicBezTo>
                  <a:close/>
                </a:path>
              </a:pathLst>
            </a:custGeom>
            <a:solidFill>
              <a:srgbClr val="B1E3FA"/>
            </a:solidFill>
            <a:ln w="66675" cap="rnd">
              <a:solidFill>
                <a:srgbClr val="4EC9F5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53090" cy="514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35140" y="6831377"/>
            <a:ext cx="1384100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Tryb podglądu statystyk gry – po zakończeniu bitwy gracz może zobaczyć liczbę trafień, pudł, zatopionych statków i długość najdłuższej serii trafień.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62441" y="1275434"/>
            <a:ext cx="11763117" cy="116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2"/>
              </a:lnSpc>
            </a:pPr>
            <a:r>
              <a:rPr lang="en-US" sz="7747" b="true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DODATKOWO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130635" y="2433238"/>
            <a:ext cx="14250015" cy="1807296"/>
            <a:chOff x="0" y="0"/>
            <a:chExt cx="3753090" cy="4759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53090" cy="475996"/>
            </a:xfrm>
            <a:custGeom>
              <a:avLst/>
              <a:gdLst/>
              <a:ahLst/>
              <a:cxnLst/>
              <a:rect r="r" b="b" t="t" l="l"/>
              <a:pathLst>
                <a:path h="475996" w="3753090">
                  <a:moveTo>
                    <a:pt x="27708" y="0"/>
                  </a:moveTo>
                  <a:lnTo>
                    <a:pt x="3725382" y="0"/>
                  </a:lnTo>
                  <a:cubicBezTo>
                    <a:pt x="3732731" y="0"/>
                    <a:pt x="3739779" y="2919"/>
                    <a:pt x="3744975" y="8115"/>
                  </a:cubicBezTo>
                  <a:cubicBezTo>
                    <a:pt x="3750171" y="13312"/>
                    <a:pt x="3753090" y="20359"/>
                    <a:pt x="3753090" y="27708"/>
                  </a:cubicBezTo>
                  <a:lnTo>
                    <a:pt x="3753090" y="448288"/>
                  </a:lnTo>
                  <a:cubicBezTo>
                    <a:pt x="3753090" y="455636"/>
                    <a:pt x="3750171" y="462684"/>
                    <a:pt x="3744975" y="467880"/>
                  </a:cubicBezTo>
                  <a:cubicBezTo>
                    <a:pt x="3739779" y="473076"/>
                    <a:pt x="3732731" y="475996"/>
                    <a:pt x="3725382" y="475996"/>
                  </a:cubicBezTo>
                  <a:lnTo>
                    <a:pt x="27708" y="475996"/>
                  </a:lnTo>
                  <a:cubicBezTo>
                    <a:pt x="20359" y="475996"/>
                    <a:pt x="13312" y="473076"/>
                    <a:pt x="8115" y="467880"/>
                  </a:cubicBezTo>
                  <a:cubicBezTo>
                    <a:pt x="2919" y="462684"/>
                    <a:pt x="0" y="455636"/>
                    <a:pt x="0" y="448288"/>
                  </a:cubicBezTo>
                  <a:lnTo>
                    <a:pt x="0" y="27708"/>
                  </a:lnTo>
                  <a:cubicBezTo>
                    <a:pt x="0" y="20359"/>
                    <a:pt x="2919" y="13312"/>
                    <a:pt x="8115" y="8115"/>
                  </a:cubicBezTo>
                  <a:cubicBezTo>
                    <a:pt x="13312" y="2919"/>
                    <a:pt x="20359" y="0"/>
                    <a:pt x="27708" y="0"/>
                  </a:cubicBezTo>
                  <a:close/>
                </a:path>
              </a:pathLst>
            </a:custGeom>
            <a:solidFill>
              <a:srgbClr val="B1E3FA"/>
            </a:solidFill>
            <a:ln w="66675" cap="rnd">
              <a:solidFill>
                <a:srgbClr val="4EC9F5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753090" cy="514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457939" y="2482497"/>
            <a:ext cx="13595407" cy="2408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"/>
              </a:lnSpc>
            </a:pPr>
            <a:r>
              <a:rPr lang="en-US" sz="227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Boosty / power-upy – np.:</a:t>
            </a:r>
          </a:p>
          <a:p>
            <a:pPr algn="ctr">
              <a:lnSpc>
                <a:spcPts val="3186"/>
              </a:lnSpc>
            </a:pPr>
            <a:r>
              <a:rPr lang="en-US" sz="227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Podwójny strzał – gracz oddaje dwa strzały pod rząd.</a:t>
            </a:r>
          </a:p>
          <a:p>
            <a:pPr algn="ctr">
              <a:lnSpc>
                <a:spcPts val="3186"/>
              </a:lnSpc>
            </a:pPr>
            <a:r>
              <a:rPr lang="en-US" sz="227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Radar – podświetla jedną losową kratkę, w której znajduje się statek przeciwnika.</a:t>
            </a:r>
          </a:p>
          <a:p>
            <a:pPr algn="ctr">
              <a:lnSpc>
                <a:spcPts val="3186"/>
              </a:lnSpc>
            </a:pPr>
            <a:r>
              <a:rPr lang="en-US" sz="2276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Ochrona statku – jeden z własnych statków staje się niewidoczny dla przeciwnika na turę.</a:t>
            </a:r>
          </a:p>
          <a:p>
            <a:pPr algn="ctr">
              <a:lnSpc>
                <a:spcPts val="3186"/>
              </a:lnSpc>
            </a:pPr>
          </a:p>
          <a:p>
            <a:pPr algn="ctr">
              <a:lnSpc>
                <a:spcPts val="3186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2130635" y="4455409"/>
            <a:ext cx="14250015" cy="1807296"/>
            <a:chOff x="0" y="0"/>
            <a:chExt cx="3753090" cy="475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53090" cy="475996"/>
            </a:xfrm>
            <a:custGeom>
              <a:avLst/>
              <a:gdLst/>
              <a:ahLst/>
              <a:cxnLst/>
              <a:rect r="r" b="b" t="t" l="l"/>
              <a:pathLst>
                <a:path h="475996" w="3753090">
                  <a:moveTo>
                    <a:pt x="27708" y="0"/>
                  </a:moveTo>
                  <a:lnTo>
                    <a:pt x="3725382" y="0"/>
                  </a:lnTo>
                  <a:cubicBezTo>
                    <a:pt x="3732731" y="0"/>
                    <a:pt x="3739779" y="2919"/>
                    <a:pt x="3744975" y="8115"/>
                  </a:cubicBezTo>
                  <a:cubicBezTo>
                    <a:pt x="3750171" y="13312"/>
                    <a:pt x="3753090" y="20359"/>
                    <a:pt x="3753090" y="27708"/>
                  </a:cubicBezTo>
                  <a:lnTo>
                    <a:pt x="3753090" y="448288"/>
                  </a:lnTo>
                  <a:cubicBezTo>
                    <a:pt x="3753090" y="455636"/>
                    <a:pt x="3750171" y="462684"/>
                    <a:pt x="3744975" y="467880"/>
                  </a:cubicBezTo>
                  <a:cubicBezTo>
                    <a:pt x="3739779" y="473076"/>
                    <a:pt x="3732731" y="475996"/>
                    <a:pt x="3725382" y="475996"/>
                  </a:cubicBezTo>
                  <a:lnTo>
                    <a:pt x="27708" y="475996"/>
                  </a:lnTo>
                  <a:cubicBezTo>
                    <a:pt x="20359" y="475996"/>
                    <a:pt x="13312" y="473076"/>
                    <a:pt x="8115" y="467880"/>
                  </a:cubicBezTo>
                  <a:cubicBezTo>
                    <a:pt x="2919" y="462684"/>
                    <a:pt x="0" y="455636"/>
                    <a:pt x="0" y="448288"/>
                  </a:cubicBezTo>
                  <a:lnTo>
                    <a:pt x="0" y="27708"/>
                  </a:lnTo>
                  <a:cubicBezTo>
                    <a:pt x="0" y="20359"/>
                    <a:pt x="2919" y="13312"/>
                    <a:pt x="8115" y="8115"/>
                  </a:cubicBezTo>
                  <a:cubicBezTo>
                    <a:pt x="13312" y="2919"/>
                    <a:pt x="20359" y="0"/>
                    <a:pt x="27708" y="0"/>
                  </a:cubicBezTo>
                  <a:close/>
                </a:path>
              </a:pathLst>
            </a:custGeom>
            <a:solidFill>
              <a:srgbClr val="B1E3FA"/>
            </a:solidFill>
            <a:ln w="66675" cap="rnd">
              <a:solidFill>
                <a:srgbClr val="4EC9F5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753090" cy="514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61147" y="4724083"/>
            <a:ext cx="1384100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74C7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Muzyka i efekty dźwiękowe – gra posiada dynamiczne tło muzyczne oraz dźwięki towarzyszące rozgrywce.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746003" y="7498651"/>
            <a:ext cx="2427786" cy="2450566"/>
          </a:xfrm>
          <a:custGeom>
            <a:avLst/>
            <a:gdLst/>
            <a:ahLst/>
            <a:cxnLst/>
            <a:rect r="r" b="b" t="t" l="l"/>
            <a:pathLst>
              <a:path h="2450566" w="2427786">
                <a:moveTo>
                  <a:pt x="0" y="0"/>
                </a:moveTo>
                <a:lnTo>
                  <a:pt x="2427786" y="0"/>
                </a:lnTo>
                <a:lnTo>
                  <a:pt x="2427786" y="2450566"/>
                </a:lnTo>
                <a:lnTo>
                  <a:pt x="0" y="2450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86864" y="-1594203"/>
            <a:ext cx="4546999" cy="4114800"/>
          </a:xfrm>
          <a:custGeom>
            <a:avLst/>
            <a:gdLst/>
            <a:ahLst/>
            <a:cxnLst/>
            <a:rect r="r" b="b" t="t" l="l"/>
            <a:pathLst>
              <a:path h="4114800" w="4546999">
                <a:moveTo>
                  <a:pt x="0" y="0"/>
                </a:moveTo>
                <a:lnTo>
                  <a:pt x="4546999" y="0"/>
                </a:lnTo>
                <a:lnTo>
                  <a:pt x="454699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-12353" y="8391042"/>
            <a:ext cx="4223400" cy="3821960"/>
          </a:xfrm>
          <a:custGeom>
            <a:avLst/>
            <a:gdLst/>
            <a:ahLst/>
            <a:cxnLst/>
            <a:rect r="r" b="b" t="t" l="l"/>
            <a:pathLst>
              <a:path h="3821960" w="4223400">
                <a:moveTo>
                  <a:pt x="4223400" y="3821960"/>
                </a:moveTo>
                <a:lnTo>
                  <a:pt x="0" y="3821960"/>
                </a:lnTo>
                <a:lnTo>
                  <a:pt x="0" y="0"/>
                </a:lnTo>
                <a:lnTo>
                  <a:pt x="4223400" y="0"/>
                </a:lnTo>
                <a:lnTo>
                  <a:pt x="4223400" y="38219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017" y="199334"/>
            <a:ext cx="2633892" cy="4944166"/>
          </a:xfrm>
          <a:custGeom>
            <a:avLst/>
            <a:gdLst/>
            <a:ahLst/>
            <a:cxnLst/>
            <a:rect r="r" b="b" t="t" l="l"/>
            <a:pathLst>
              <a:path h="4944166" w="2633892">
                <a:moveTo>
                  <a:pt x="0" y="0"/>
                </a:moveTo>
                <a:lnTo>
                  <a:pt x="2633892" y="0"/>
                </a:lnTo>
                <a:lnTo>
                  <a:pt x="2633892" y="4944166"/>
                </a:lnTo>
                <a:lnTo>
                  <a:pt x="0" y="4944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36059" y="2525383"/>
            <a:ext cx="12415882" cy="5539357"/>
            <a:chOff x="0" y="0"/>
            <a:chExt cx="3270027" cy="14589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70027" cy="1458925"/>
            </a:xfrm>
            <a:custGeom>
              <a:avLst/>
              <a:gdLst/>
              <a:ahLst/>
              <a:cxnLst/>
              <a:rect r="r" b="b" t="t" l="l"/>
              <a:pathLst>
                <a:path h="1458925" w="3270027">
                  <a:moveTo>
                    <a:pt x="31801" y="0"/>
                  </a:moveTo>
                  <a:lnTo>
                    <a:pt x="3238226" y="0"/>
                  </a:lnTo>
                  <a:cubicBezTo>
                    <a:pt x="3246660" y="0"/>
                    <a:pt x="3254749" y="3350"/>
                    <a:pt x="3260713" y="9314"/>
                  </a:cubicBezTo>
                  <a:cubicBezTo>
                    <a:pt x="3266676" y="15278"/>
                    <a:pt x="3270027" y="23367"/>
                    <a:pt x="3270027" y="31801"/>
                  </a:cubicBezTo>
                  <a:lnTo>
                    <a:pt x="3270027" y="1427124"/>
                  </a:lnTo>
                  <a:cubicBezTo>
                    <a:pt x="3270027" y="1444688"/>
                    <a:pt x="3255789" y="1458925"/>
                    <a:pt x="3238226" y="1458925"/>
                  </a:cubicBezTo>
                  <a:lnTo>
                    <a:pt x="31801" y="1458925"/>
                  </a:lnTo>
                  <a:cubicBezTo>
                    <a:pt x="14238" y="1458925"/>
                    <a:pt x="0" y="1444688"/>
                    <a:pt x="0" y="1427124"/>
                  </a:cubicBezTo>
                  <a:lnTo>
                    <a:pt x="0" y="31801"/>
                  </a:lnTo>
                  <a:cubicBezTo>
                    <a:pt x="0" y="14238"/>
                    <a:pt x="14238" y="0"/>
                    <a:pt x="31801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2E6FB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70027" cy="1497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16574" y="3873330"/>
            <a:ext cx="11654852" cy="236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58"/>
              </a:lnSpc>
            </a:pPr>
            <a:r>
              <a:rPr lang="en-US" b="true" sz="1247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KONIEC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217017" y="7602731"/>
            <a:ext cx="4546999" cy="4114800"/>
          </a:xfrm>
          <a:custGeom>
            <a:avLst/>
            <a:gdLst/>
            <a:ahLst/>
            <a:cxnLst/>
            <a:rect r="r" b="b" t="t" l="l"/>
            <a:pathLst>
              <a:path h="4114800" w="4546999">
                <a:moveTo>
                  <a:pt x="454699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546999" y="0"/>
                </a:lnTo>
                <a:lnTo>
                  <a:pt x="4546999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39070" y="6807734"/>
            <a:ext cx="2427786" cy="2450566"/>
          </a:xfrm>
          <a:custGeom>
            <a:avLst/>
            <a:gdLst/>
            <a:ahLst/>
            <a:cxnLst/>
            <a:rect r="r" b="b" t="t" l="l"/>
            <a:pathLst>
              <a:path h="2450566" w="2427786">
                <a:moveTo>
                  <a:pt x="0" y="0"/>
                </a:moveTo>
                <a:lnTo>
                  <a:pt x="2427785" y="0"/>
                </a:lnTo>
                <a:lnTo>
                  <a:pt x="2427785" y="2450566"/>
                </a:lnTo>
                <a:lnTo>
                  <a:pt x="0" y="2450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47403" y="0"/>
            <a:ext cx="3849599" cy="1917800"/>
          </a:xfrm>
          <a:custGeom>
            <a:avLst/>
            <a:gdLst/>
            <a:ahLst/>
            <a:cxnLst/>
            <a:rect r="r" b="b" t="t" l="l"/>
            <a:pathLst>
              <a:path h="1917800" w="3849599">
                <a:moveTo>
                  <a:pt x="0" y="0"/>
                </a:moveTo>
                <a:lnTo>
                  <a:pt x="3849598" y="0"/>
                </a:lnTo>
                <a:lnTo>
                  <a:pt x="3849598" y="1917800"/>
                </a:lnTo>
                <a:lnTo>
                  <a:pt x="0" y="1917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DAG2RMD9MJ4</dc:identifier>
  <dcterms:modified xsi:type="dcterms:W3CDTF">2011-08-01T06:04:30Z</dcterms:modified>
  <cp:revision>1</cp:revision>
  <dc:title>Ships game</dc:title>
</cp:coreProperties>
</file>